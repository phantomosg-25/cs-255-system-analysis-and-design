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374da79d643b6" /><Relationship Type="http://schemas.openxmlformats.org/officeDocument/2006/relationships/extended-properties" Target="/docProps/app.xml" Id="Rb98cd3967e58479f" /><Relationship Type="http://schemas.openxmlformats.org/officeDocument/2006/relationships/officeDocument" Target="/ppt/presentation.xml" Id="Rec0488604222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b57800558645bd"/>
  </p:sldMasterIdLst>
  <p:notesMasterIdLst>
    <p:notesMasterId xmlns:r="http://schemas.openxmlformats.org/officeDocument/2006/relationships" r:id="Re92a65a6424049c8"/>
  </p:notesMasterIdLst>
  <p:sldIdLst>
    <p:sldId xmlns:r="http://schemas.openxmlformats.org/officeDocument/2006/relationships" id="256" r:id="Re91a0d7fbaec4e8a"/>
    <p:sldId xmlns:r="http://schemas.openxmlformats.org/officeDocument/2006/relationships" id="257" r:id="R721e922874be43ba"/>
    <p:sldId xmlns:r="http://schemas.openxmlformats.org/officeDocument/2006/relationships" id="258" r:id="R88aee4dc68bb4e9e"/>
    <p:sldId xmlns:r="http://schemas.openxmlformats.org/officeDocument/2006/relationships" id="259" r:id="R5ca40a0bc5224bfc"/>
    <p:sldId xmlns:r="http://schemas.openxmlformats.org/officeDocument/2006/relationships" id="260" r:id="Rd0b1b44a908a4b7e"/>
    <p:sldId xmlns:r="http://schemas.openxmlformats.org/officeDocument/2006/relationships" id="261" r:id="R4b2c8a0661c643bb"/>
    <p:sldId xmlns:r="http://schemas.openxmlformats.org/officeDocument/2006/relationships" id="262" r:id="Rbfff51ad7de245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46823de63048be" /><Relationship Type="http://schemas.openxmlformats.org/officeDocument/2006/relationships/slideMaster" Target="/ppt/slideMasters/slideMaster1.xml" Id="Rb3b57800558645bd" /><Relationship Type="http://schemas.openxmlformats.org/officeDocument/2006/relationships/notesMaster" Target="/ppt/notesMasters/notesMaster1.xml" Id="Re92a65a6424049c8" /><Relationship Type="http://schemas.openxmlformats.org/officeDocument/2006/relationships/presProps" Target="/ppt/presProps.xml" Id="Rb8fda2eb1a5c44f4" /><Relationship Type="http://schemas.openxmlformats.org/officeDocument/2006/relationships/tableStyles" Target="/ppt/tableStyles.xml" Id="R694e0be454c7492b" /><Relationship Type="http://schemas.openxmlformats.org/officeDocument/2006/relationships/slide" Target="/ppt/slides/slide1.xml" Id="Re91a0d7fbaec4e8a" /><Relationship Type="http://schemas.openxmlformats.org/officeDocument/2006/relationships/slide" Target="/ppt/slides/slide2.xml" Id="R721e922874be43ba" /><Relationship Type="http://schemas.openxmlformats.org/officeDocument/2006/relationships/slide" Target="/ppt/slides/slide3.xml" Id="R88aee4dc68bb4e9e" /><Relationship Type="http://schemas.openxmlformats.org/officeDocument/2006/relationships/slide" Target="/ppt/slides/slide4.xml" Id="R5ca40a0bc5224bfc" /><Relationship Type="http://schemas.openxmlformats.org/officeDocument/2006/relationships/slide" Target="/ppt/slides/slide5.xml" Id="Rd0b1b44a908a4b7e" /><Relationship Type="http://schemas.openxmlformats.org/officeDocument/2006/relationships/slide" Target="/ppt/slides/slide6.xml" Id="R4b2c8a0661c643bb" /><Relationship Type="http://schemas.openxmlformats.org/officeDocument/2006/relationships/slide" Target="/ppt/slides/slide7.xml" Id="Rbfff51ad7de2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309d68c25549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34e6a87437452b" /><Relationship Type="http://schemas.openxmlformats.org/officeDocument/2006/relationships/notesMaster" Target="/ppt/notesMasters/notesMaster1.xml" Id="R1353e71906754f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719e1f08344b2e" /><Relationship Type="http://schemas.openxmlformats.org/officeDocument/2006/relationships/notesMaster" Target="/ppt/notesMasters/notesMaster1.xml" Id="R001cb3c15e2745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c236e73b4f4ded" /><Relationship Type="http://schemas.openxmlformats.org/officeDocument/2006/relationships/notesMaster" Target="/ppt/notesMasters/notesMaster1.xml" Id="Rcf3eccdc70fb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078fa2ec34989" /><Relationship Type="http://schemas.openxmlformats.org/officeDocument/2006/relationships/notesMaster" Target="/ppt/notesMasters/notesMaster1.xml" Id="R1a44f7bb113845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e28a8168de4763" /><Relationship Type="http://schemas.openxmlformats.org/officeDocument/2006/relationships/notesMaster" Target="/ppt/notesMasters/notesMaster1.xml" Id="Rf018b03f876e46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8f2b0db3b84312" /><Relationship Type="http://schemas.openxmlformats.org/officeDocument/2006/relationships/notesMaster" Target="/ppt/notesMasters/notesMaster1.xml" Id="Re823ad31cc8f43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209a5b604e4de7" /><Relationship Type="http://schemas.openxmlformats.org/officeDocument/2006/relationships/notesMaster" Target="/ppt/notesMasters/notesMaster1.xml" Id="R4ccc039c48ab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CS 255 DriverPass requirements and system design documents in this repository.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CS 255 DriverPass requirements and system design documents in this repository.</a:t>
            </a:r>
          </a:p>
          <a:p xmlns:a="http://schemas.openxmlformats.org/drawingml/2006/main">
            <a:r>
              <a:t>- Portfolio-enhancement models and analysis prepared from those source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CS 255 DriverPass requirements and system design documents in this repository.</a:t>
            </a:r>
          </a:p>
          <a:p xmlns:a="http://schemas.openxmlformats.org/drawingml/2006/main">
            <a:r>
              <a:t>- Portfolio-enhancement models and analysis prepared from those source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CS 255 DriverPass requirements and system design documents in this repository.</a:t>
            </a:r>
          </a:p>
          <a:p xmlns:a="http://schemas.openxmlformats.org/drawingml/2006/main">
            <a:r>
              <a:t>- Portfolio-enhancement models and analysis prepared from those source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CS 255 DriverPass requirements and system design documents in this repository.</a:t>
            </a:r>
          </a:p>
          <a:p xmlns:a="http://schemas.openxmlformats.org/drawingml/2006/main">
            <a:r>
              <a:t>- Portfolio-enhancement models and analysis prepared from those source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CS 255 DriverPass requirements and system design documents in this repository.</a:t>
            </a:r>
          </a:p>
          <a:p xmlns:a="http://schemas.openxmlformats.org/drawingml/2006/main">
            <a:r>
              <a:t>- Portfolio-enhancement models and analysis prepared from those source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CS 255 DriverPass requirements and system design documents in this repository.</a:t>
            </a:r>
          </a:p>
          <a:p xmlns:a="http://schemas.openxmlformats.org/drawingml/2006/main">
            <a:r>
              <a:t>- Portfolio-enhancement models and analysis prepared from those source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ff2d12e3c45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1ae3ff1bca4b03" /><Relationship Type="http://schemas.openxmlformats.org/officeDocument/2006/relationships/slideLayout" Target="/ppt/slideLayouts/slideLayout1.xml" Id="Rd48cc96d5a0e44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cc96d5a0e44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b885c7d68495a" /><Relationship Type="http://schemas.openxmlformats.org/officeDocument/2006/relationships/notesSlide" Target="/ppt/notesSlides/notesSlide1.xml" Id="R6250621c2ae541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c102b580c4ac7" /><Relationship Type="http://schemas.openxmlformats.org/officeDocument/2006/relationships/notesSlide" Target="/ppt/notesSlides/notesSlide2.xml" Id="R67859e91b0d643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7260d541f4ec5" /><Relationship Type="http://schemas.openxmlformats.org/officeDocument/2006/relationships/image" Target="/ppt/media/image.png" Id="Rbb920bccbbe544aa" /><Relationship Type="http://schemas.openxmlformats.org/officeDocument/2006/relationships/image" Target="/ppt/media/image.svg" Id="Re7926dc7592346a7" /><Relationship Type="http://schemas.openxmlformats.org/officeDocument/2006/relationships/notesSlide" Target="/ppt/notesSlides/notesSlide3.xml" Id="Rc4c03ea12aeb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d3265d33a4a8e" /><Relationship Type="http://schemas.openxmlformats.org/officeDocument/2006/relationships/image" Target="/ppt/media/image2.png" Id="R90d3033b82a94724" /><Relationship Type="http://schemas.openxmlformats.org/officeDocument/2006/relationships/image" Target="/ppt/media/image2.svg" Id="Rf8269fd349a84e59" /><Relationship Type="http://schemas.openxmlformats.org/officeDocument/2006/relationships/notesSlide" Target="/ppt/notesSlides/notesSlide4.xml" Id="R81c8663b211045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ff112d27f4eea" /><Relationship Type="http://schemas.openxmlformats.org/officeDocument/2006/relationships/image" Target="/ppt/media/image3.png" Id="R6e0f2a1f98c34886" /><Relationship Type="http://schemas.openxmlformats.org/officeDocument/2006/relationships/image" Target="/ppt/media/image3.svg" Id="R25420194bdc242c2" /><Relationship Type="http://schemas.openxmlformats.org/officeDocument/2006/relationships/notesSlide" Target="/ppt/notesSlides/notesSlide5.xml" Id="Rf1e0ca20592c4e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91f8820b64b38" /><Relationship Type="http://schemas.openxmlformats.org/officeDocument/2006/relationships/notesSlide" Target="/ppt/notesSlides/notesSlide6.xml" Id="Rfb7a724c5ebf41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c8a5e11514121" /><Relationship Type="http://schemas.openxmlformats.org/officeDocument/2006/relationships/notesSlide" Target="/ppt/notesSlides/notesSlide7.xml" Id="R812aa8efdc91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05E73-C714-4FDA-83B7-344A7334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SYSTEMS ANALYSIS / PORTFOLIO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9A7C2-E251-4335-98B3-2379D533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DriverPass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90F2E-150B-4B43-9681-453D0497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44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475569"/>
                </a:solidFill>
                <a:latin typeface="Arial"/>
                <a:ea typeface="Arial"/>
                <a:cs typeface="Arial"/>
              </a:rPr>
              <a:t>Turning stakeholder needs into a secure, testable system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D7858-8DC6-4BEE-8F59-DDD2F4D7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669E4-D3B3-4880-8C72-F44D1056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Michael B. Wood</a:t>
            </a:r>
          </a:p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CS 255 | System Analysis and Design</a:t>
            </a:r>
          </a:p>
        </p:txBody>
      </p:sp>
    </p:spTree>
    <p:extLst>
      <p:ext uri="{BB962C8B-B14F-4D97-AF65-F5344CB8AC3E}">
        <p14:creationId xmlns:p14="http://schemas.microsoft.com/office/powerpoint/2010/main" val="11928053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96069-DB70-433B-AC4C-F8039545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DRIVERPASS / CS 255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7106B-18A6-4B96-9388-7E8AAD6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business problem is coordination, not just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25FC6-59C9-4E96-AB85-9118E16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08C90-7FB9-4EF4-A85C-E49A1751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1E3B7-2142-404B-8790-F38B8AD5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82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827"/>
                </a:solidFill>
                <a:latin typeface="Arial"/>
                <a:ea typeface="Arial"/>
                <a:cs typeface="Arial"/>
              </a:rPr>
              <a:t>DriverPass needs one dependable workflow for learning, purchasing, scheduling, and administration.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EDD42-2468-4036-AC56-4F6680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design must keep people, vehicles, time slots, payments, and policy updates consistent while protecting personal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F548A-6779-45AD-9862-30C91BFF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ctr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learns and books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B720B-BEC4-4161-BBDD-7A07936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669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Staff</a:t>
            </a:r>
          </a:p>
          <a:p xmlns:a="http://schemas.openxmlformats.org/drawingml/2006/main">
            <a:pPr algn="ctr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B56D8-338B-4F85-BD96-D9F65F41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Services</a:t>
            </a:r>
          </a:p>
          <a:p xmlns:a="http://schemas.openxmlformats.org/drawingml/2006/main">
            <a:pPr algn="ctr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validate and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E584B-839F-44D5-83C4-56BB5876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4288">
            <a:solidFill>
              <a:srgbClr val="D08A0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External providers</a:t>
            </a:r>
          </a:p>
          <a:p xmlns:a="http://schemas.openxmlformats.org/drawingml/2006/main">
            <a:pPr algn="ctr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settle and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D216E-45DE-4E9C-9AE5-23E954B4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Outcome: a design that can be reviewed, tested, and implemented in stages.</a:t>
            </a:r>
          </a:p>
        </p:txBody>
      </p:sp>
    </p:spTree>
    <p:extLst>
      <p:ext uri="{BB962C8B-B14F-4D97-AF65-F5344CB8AC3E}">
        <p14:creationId xmlns:p14="http://schemas.microsoft.com/office/powerpoint/2010/main" val="590925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F8336-5E96-4271-BCCA-B7530FD8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DRIVERPASS / CS 255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2FD5B-554E-4CB1-83CD-43132DFB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system boundary makes responsibilities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9E49B-38FD-43E3-B8C8-145C4079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D43C3-A668-46EE-B07A-098F0CB6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FDB5C-34ED-4613-907D-A89C0B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DriverPass owns the experience and business rules. External providers remain isolated behind adapters.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20bccbbe544aa">
            <a:extLst>
              <a:ext uri="{96DAC541-7B7A-43D3-8B79-37D633B846F1}">
                <asvg:svgBlip xmlns:asvg="http://schemas.microsoft.com/office/drawing/2016/SVG/main" r:embed="Re7926dc7592346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72250" y="1714500"/>
            <a:ext cx="504825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6726B-E608-4121-8A5B-7DBD1D51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Actors, use cases, and integration boundaries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67511-B2F3-4963-A554-B2FC7C80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75569"/>
                </a:solidFill>
                <a:latin typeface="Arial"/>
                <a:ea typeface="Arial"/>
                <a:cs typeface="Arial"/>
              </a:rPr>
              <a:t>Customer and staff workflows stay inside the platform; payment, notification, and DMV content exchange through controlled interfaces.</a:t>
            </a:r>
          </a:p>
        </p:txBody>
      </p:sp>
    </p:spTree>
    <p:extLst>
      <p:ext uri="{BB962C8B-B14F-4D97-AF65-F5344CB8AC3E}">
        <p14:creationId xmlns:p14="http://schemas.microsoft.com/office/powerpoint/2010/main" val="19190383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01A9C-EE75-49B2-9B80-FC0A6BEA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DRIVERPASS / CS 255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79ED8-7E1B-4CA0-9E4C-D1D7FF2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Authentication is a workflow with failure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5F526-9A38-458C-B39E-E0AF77BE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D04EE-8682-49ED-8890-B3F3E61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44942-1E30-4CD0-BBE2-7118ED8E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75569"/>
                </a:solidFill>
                <a:latin typeface="Arial"/>
                <a:ea typeface="Arial"/>
                <a:cs typeface="Arial"/>
              </a:rPr>
              <a:t>A useful model includes retry, lockout, recovery, and privileged-user MFA—not only the happy path.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3033b82a94724">
            <a:extLst>
              <a:ext uri="{96DAC541-7B7A-43D3-8B79-37D633B846F1}">
                <asvg:svgBlip xmlns:asvg="http://schemas.microsoft.com/office/drawing/2016/SVG/main" r:embed="Rf8269fd349a84e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0" y="1676400"/>
            <a:ext cx="5143500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40CAE-E496-40C1-A496-21E8B576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Security controls represented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B5A92-5068-4CC1-89FE-1FF3C89E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Generic failure messages</a:t>
            </a:r>
          </a:p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Rate limiting and temporary lockout</a:t>
            </a:r>
          </a:p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MFA for privileged roles</a:t>
            </a:r>
          </a:p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Audited session creation</a:t>
            </a:r>
          </a:p>
        </p:txBody>
      </p:sp>
    </p:spTree>
    <p:extLst>
      <p:ext uri="{BB962C8B-B14F-4D97-AF65-F5344CB8AC3E}">
        <p14:creationId xmlns:p14="http://schemas.microsoft.com/office/powerpoint/2010/main" val="9658978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AE262-88C2-4BA4-ADB5-5BD30C56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DRIVERPASS / CS 255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31FC1-757C-491A-ABBD-CB76DF84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Payment data should cross a boundary, not live in the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864D4-7C17-4BA8-97B4-0C1FE512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171D5-5279-43F7-9B98-9053C61B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f2a1f98c34886">
            <a:extLst>
              <a:ext uri="{96DAC541-7B7A-43D3-8B79-37D633B846F1}">
                <asvg:svgBlip xmlns:asvg="http://schemas.microsoft.com/office/drawing/2016/SVG/main" r:embed="R25420194bdc242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1695450"/>
            <a:ext cx="6572250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35262-0DDE-4351-8AB2-516C66AA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Design implications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6C6A3-EC82-4DCC-86CB-A46DE2F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381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75569"/>
                </a:solidFill>
                <a:latin typeface="Arial"/>
                <a:ea typeface="Arial"/>
                <a:cs typeface="Arial"/>
              </a:rPr>
              <a:t>• Hosted payment fields keep card data with the provider.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75569"/>
                </a:solidFill>
                <a:latin typeface="Arial"/>
                <a:ea typeface="Arial"/>
                <a:cs typeface="Arial"/>
              </a:rPr>
              <a:t>• Signed callbacks and idempotency prevent duplicate entitlements.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75569"/>
                </a:solidFill>
                <a:latin typeface="Arial"/>
                <a:ea typeface="Arial"/>
                <a:cs typeface="Arial"/>
              </a:rPr>
              <a:t>• DriverPass stores a provider reference, status, amount, and audit trail.</a:t>
            </a:r>
          </a:p>
        </p:txBody>
      </p:sp>
    </p:spTree>
    <p:extLst>
      <p:ext uri="{BB962C8B-B14F-4D97-AF65-F5344CB8AC3E}">
        <p14:creationId xmlns:p14="http://schemas.microsoft.com/office/powerpoint/2010/main" val="8936655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1CAD0-98C4-4604-BC6F-66B7D79B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DRIVERPASS / CS 255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01E10-5B19-48AE-B1B8-E0DF43B1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Requirements become useful when QA can prove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DABED-1D4C-4712-94C3-7CC7EF1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2B363-9CE5-48D7-B204-108ED4C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71109-C173-4D4C-9061-8808B9EF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catalog and traceability matrix turn broad stakeholder language into reviewable evidence.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2724150"/>
          <a:ext xmlns:a="http://schemas.openxmlformats.org/drawingml/2006/main" cx="111252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08400"/>
                <a:gridCol w="3708400"/>
                <a:gridCol w="37084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91440" marR="91440" marT="45720" marB="4572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Design evidence</a:t>
                      </a:r>
                    </a:p>
                  </a:txBody>
                  <a:tcPr marL="91440" marR="91440" marT="45720" marB="4572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QA evidence</a:t>
                      </a:r>
                    </a:p>
                  </a:txBody>
                  <a:tcPr marL="91440" marR="91440" marT="45720" marB="45720" anchor="ctr">
                    <a:solidFill>
                      <a:srgbClr val="3D8D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Prevent double booking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Transactional scheduling boundary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Concurrent reservation test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Protect privileged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Role policy + MFA activity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Unauthorized-access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Handle payment safely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Provider adapter + idempotency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Decline / retry / duplicate callback tests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Control DMV updates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Versioned staging + approval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</a:rPr>
                        <a:t>Schema, rollback, provenance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589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9D912-85F0-4214-AD52-E39F84C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PORTFOLIO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BF53D-3CB8-4603-835C-C2E339E0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01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credible system design connects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people, rules, risks, and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9ADB5-C078-4E9B-B665-7AA72677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457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E73A6-C9D9-4572-B389-0C9895EE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DriverPass demonstrates requirements analysis, UML modeling, security thinking, integration boundaries, and QA-ready traceability.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B35B7-0DD1-4A1F-8B9F-079DAA79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5239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2026-08-30T17:37:14.6920000Z</dcterms:created>
  <dcterms:modified xsi:type="dcterms:W3CDTF">2026-08-30T17:37:14.6920000Z</dcterms:modified>
</coreProperties>
</file>